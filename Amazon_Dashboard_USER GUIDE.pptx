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1A22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31A22"/>
                </a:solidFill>
                <a:latin typeface="Calibri"/>
              </a:rPr>
              <a:t>Total Sales by Category (K)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 (K)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9900"/>
              </a:solidFill>
              <a:effectLst/>
            </c:spPr>
          </c:dPt>
          <c:dPt>
            <c:idx val="1"/>
            <c:bubble3D val="0"/>
            <c:spPr>
              <a:solidFill>
                <a:srgbClr val="232F3E"/>
              </a:solidFill>
              <a:effectLst/>
            </c:spPr>
          </c:dPt>
          <c:dPt>
            <c:idx val="2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bubble3D val="0"/>
            <c:spPr>
              <a:solidFill>
                <a:srgbClr val="0F766E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Fashion</c:v>
                </c:pt>
                <c:pt idx="2">
                  <c:v>Home Appliances</c:v>
                </c:pt>
                <c:pt idx="3">
                  <c:v>Accessories</c:v>
                </c:pt>
                <c:pt idx="4">
                  <c:v>Home &amp; Kitchen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152.21</c:v>
                </c:pt>
                <c:pt idx="1">
                  <c:v>93.43</c:v>
                </c:pt>
                <c:pt idx="2">
                  <c:v>75.27</c:v>
                </c:pt>
                <c:pt idx="3">
                  <c:v>68.88</c:v>
                </c:pt>
                <c:pt idx="4">
                  <c:v>38.79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guide shows how to read and use the Amazon Sales Intelligence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18872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Intelligence Dashboard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97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Insights. A Bigger Tomorrow.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3434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Sinegavalli.S</a:t>
            </a:r>
            <a:endParaRPr lang="en-US" sz="1300" dirty="0"/>
          </a:p>
        </p:txBody>
      </p:sp>
      <p:pic>
        <p:nvPicPr>
          <p:cNvPr id="6" name="Image 0" descr="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320"/>
            <a:ext cx="3886200" cy="21814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dashboard at a glance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Power BI report, five pages. Each page answers a different business question from the same sales data.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508760" cy="2286000"/>
          </a:xfrm>
          <a:prstGeom prst="roundRect">
            <a:avLst>
              <a:gd name="adj" fmla="val 72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20240"/>
            <a:ext cx="594360" cy="5943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206883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6517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Front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3200400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KPIs, trends and top region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103120" y="1691640"/>
            <a:ext cx="1508760" cy="2286000"/>
          </a:xfrm>
          <a:prstGeom prst="roundRect">
            <a:avLst>
              <a:gd name="adj" fmla="val 72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60320" y="1920240"/>
            <a:ext cx="594360" cy="5943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910" y="2068830"/>
            <a:ext cx="297180" cy="2971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194560" y="26517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212848" y="3200400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earn the most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3749040" y="1691640"/>
            <a:ext cx="1508760" cy="2286000"/>
          </a:xfrm>
          <a:prstGeom prst="roundRect">
            <a:avLst>
              <a:gd name="adj" fmla="val 72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206240" y="1920240"/>
            <a:ext cx="594360" cy="5943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830" y="206883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840480" y="26517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Analytics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3858768" y="3200400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buys and how much they spend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394960" y="1691640"/>
            <a:ext cx="1508760" cy="2286000"/>
          </a:xfrm>
          <a:prstGeom prst="roundRect">
            <a:avLst>
              <a:gd name="adj" fmla="val 72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852160" y="1920240"/>
            <a:ext cx="594360" cy="5943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750" y="2068830"/>
            <a:ext cx="297180" cy="2971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486400" y="26517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Region-wise Performance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504688" y="3200400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profit by region, state, city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7040880" y="1691640"/>
            <a:ext cx="1508760" cy="2286000"/>
          </a:xfrm>
          <a:prstGeom prst="roundRect">
            <a:avLst>
              <a:gd name="adj" fmla="val 72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498080" y="1920240"/>
            <a:ext cx="594360" cy="59436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6670" y="2068830"/>
            <a:ext cx="297180" cy="2971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132320" y="265176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Detail Explorer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7150608" y="3200400"/>
            <a:ext cx="12893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Transaction-level records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457200" y="420624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model: FACT_TABLE (sales) filtered by DIM_DATE, PRODUCT, CUSTOMER and REGION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your way around</a:t>
            </a:r>
            <a:endParaRPr lang="en-US" sz="3000" dirty="0"/>
          </a:p>
        </p:txBody>
      </p:sp>
      <p:pic>
        <p:nvPicPr>
          <p:cNvPr id="3" name="Image 0" descr="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120640" cy="287439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8214" y="2045473"/>
            <a:ext cx="274320" cy="2743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8214" y="204547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40" dirty="0"/>
          </a:p>
        </p:txBody>
      </p:sp>
      <p:sp>
        <p:nvSpPr>
          <p:cNvPr id="6" name="Shape 3"/>
          <p:cNvSpPr/>
          <p:nvPr/>
        </p:nvSpPr>
        <p:spPr>
          <a:xfrm>
            <a:off x="2705431" y="1639957"/>
            <a:ext cx="274320" cy="2743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705431" y="163995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40" dirty="0"/>
          </a:p>
        </p:txBody>
      </p:sp>
      <p:sp>
        <p:nvSpPr>
          <p:cNvPr id="8" name="Shape 5"/>
          <p:cNvSpPr/>
          <p:nvPr/>
        </p:nvSpPr>
        <p:spPr>
          <a:xfrm>
            <a:off x="2387379" y="2093181"/>
            <a:ext cx="274320" cy="2743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387379" y="209318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40" dirty="0"/>
          </a:p>
        </p:txBody>
      </p:sp>
      <p:sp>
        <p:nvSpPr>
          <p:cNvPr id="10" name="Shape 7"/>
          <p:cNvSpPr/>
          <p:nvPr/>
        </p:nvSpPr>
        <p:spPr>
          <a:xfrm>
            <a:off x="2029570" y="2610016"/>
            <a:ext cx="274320" cy="2743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029570" y="2610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40" dirty="0"/>
          </a:p>
        </p:txBody>
      </p:sp>
      <p:sp>
        <p:nvSpPr>
          <p:cNvPr id="12" name="Shape 9"/>
          <p:cNvSpPr/>
          <p:nvPr/>
        </p:nvSpPr>
        <p:spPr>
          <a:xfrm>
            <a:off x="5070944" y="2395330"/>
            <a:ext cx="274320" cy="2743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70944" y="239533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40" dirty="0"/>
          </a:p>
        </p:txBody>
      </p:sp>
      <p:sp>
        <p:nvSpPr>
          <p:cNvPr id="14" name="Shape 11"/>
          <p:cNvSpPr/>
          <p:nvPr/>
        </p:nvSpPr>
        <p:spPr>
          <a:xfrm>
            <a:off x="5852160" y="1216152"/>
            <a:ext cx="292608" cy="29260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0" y="1216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6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16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11887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buttons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14356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Home, Product, Customer, Region and Details on the left switch pages.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852160" y="1874520"/>
            <a:ext cx="292608" cy="29260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8521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6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16" dirty="0"/>
          </a:p>
        </p:txBody>
      </p:sp>
      <p:sp>
        <p:nvSpPr>
          <p:cNvPr id="20" name="Text 17"/>
          <p:cNvSpPr txBox="1"/>
          <p:nvPr/>
        </p:nvSpPr>
        <p:spPr>
          <a:xfrm>
            <a:off x="6309360" y="18470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20939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 for the current filter selection.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852160" y="2532888"/>
            <a:ext cx="292608" cy="29260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852160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6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16" dirty="0"/>
          </a:p>
        </p:txBody>
      </p:sp>
      <p:sp>
        <p:nvSpPr>
          <p:cNvPr id="24" name="Text 21"/>
          <p:cNvSpPr txBox="1"/>
          <p:nvPr/>
        </p:nvSpPr>
        <p:spPr>
          <a:xfrm>
            <a:off x="6309360" y="25054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309360" y="27523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Region, Category and Month drop-downs narrow every visual.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852160" y="3191256"/>
            <a:ext cx="292608" cy="29260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852160" y="31912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6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16" dirty="0"/>
          </a:p>
        </p:txBody>
      </p:sp>
      <p:sp>
        <p:nvSpPr>
          <p:cNvPr id="28" name="Text 25"/>
          <p:cNvSpPr txBox="1"/>
          <p:nvPr/>
        </p:nvSpPr>
        <p:spPr>
          <a:xfrm>
            <a:off x="6309360" y="316382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309360" y="341071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splits and rankings. Click any bar or slice to cross-filter.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852160" y="3849624"/>
            <a:ext cx="292608" cy="29260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852160" y="3849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6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16" dirty="0"/>
          </a:p>
        </p:txBody>
      </p:sp>
      <p:sp>
        <p:nvSpPr>
          <p:cNvPr id="32" name="Text 29"/>
          <p:cNvSpPr txBox="1"/>
          <p:nvPr/>
        </p:nvSpPr>
        <p:spPr>
          <a:xfrm>
            <a:off x="6309360" y="38221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 call-out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6309360" y="40690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the best-performing region.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4160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left-hand navigation stays in the same place on every page.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KPI cards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508760" cy="2286000"/>
          </a:xfrm>
          <a:prstGeom prst="roundRect">
            <a:avLst>
              <a:gd name="adj" fmla="val 727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6002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428.58K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7432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sales amounts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03120" y="1371600"/>
            <a:ext cx="1508760" cy="2286000"/>
          </a:xfrm>
          <a:prstGeom prst="roundRect">
            <a:avLst>
              <a:gd name="adj" fmla="val 727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16002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84.51K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27432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amount minus costs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49040" y="1371600"/>
            <a:ext cx="1508760" cy="2286000"/>
          </a:xfrm>
          <a:prstGeom prst="roundRect">
            <a:avLst>
              <a:gd name="adj" fmla="val 727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94760" y="16002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306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Quantity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886200" y="27432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394960" y="1371600"/>
            <a:ext cx="1508760" cy="2286000"/>
          </a:xfrm>
          <a:prstGeom prst="roundRect">
            <a:avLst>
              <a:gd name="adj" fmla="val 727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40680" y="16002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27432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orders placed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040880" y="1371600"/>
            <a:ext cx="1508760" cy="2286000"/>
          </a:xfrm>
          <a:prstGeom prst="roundRect">
            <a:avLst>
              <a:gd name="adj" fmla="val 727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86600" y="160020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274320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divided by sales (shown as 0.20)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shown are for the full data set (Region, Category and Month = All). Every card recalculates when you change a slicer.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page charts explained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51560"/>
          <a:ext cx="40233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4754880" y="1188720"/>
            <a:ext cx="502920" cy="5029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0610" y="1314450"/>
            <a:ext cx="251460" cy="2514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394960" y="11704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Month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394960" y="1463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of the sales trend over time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4754880" y="2057400"/>
            <a:ext cx="502920" cy="5029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0610" y="2183130"/>
            <a:ext cx="251460" cy="2514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5394960" y="20391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Region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539496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ranking South, East, West and North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4754880" y="2926080"/>
            <a:ext cx="502920" cy="5029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610" y="3051810"/>
            <a:ext cx="251460" cy="2514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394960" y="29077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by Product</a:t>
            </a:r>
            <a:endParaRPr lang="en-US" sz="1400" dirty="0"/>
          </a:p>
        </p:txBody>
      </p:sp>
      <p:sp>
        <p:nvSpPr>
          <p:cNvPr id="15" name="Text 9"/>
          <p:cNvSpPr txBox="1"/>
          <p:nvPr/>
        </p:nvSpPr>
        <p:spPr>
          <a:xfrm>
            <a:off x="539496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of best- and worst-selling products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754880" y="3794760"/>
            <a:ext cx="502920" cy="50292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0610" y="3920490"/>
            <a:ext cx="251460" cy="2514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394960" y="37764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 by Payment Method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5394960" y="4069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Donut: Cash on Delivery, Credit Card, Debit Card, UPI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457200" y="4617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leads with 35.52% of sales.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and explore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6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96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value in a slicer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3898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Region, Category or Month drop-down and pick an option. Every KPI and chart updates.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6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96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more than one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25856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Ctrl while clicking to choose several values, for example two regions.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6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96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834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chart element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12724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bar, slice or column to highlight it and filter the other visuals. Click it again to undo.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384048" cy="38404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96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96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9959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slicers back to All or use the clear-selection icon on the slicer.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94960" y="1097280"/>
            <a:ext cx="3291840" cy="3383280"/>
          </a:xfrm>
          <a:prstGeom prst="roundRect">
            <a:avLst>
              <a:gd name="adj" fmla="val 333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3560" y="132588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463040"/>
            <a:ext cx="274320" cy="27432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355080" y="13258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this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5623560" y="210312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Region to South.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now show South only.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set Category to Electronics.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Electronics sales in South, by month and product.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drive sales, profit and volume?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78308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19431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 cards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175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product, its sales and its profit.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46120" y="155448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51960" y="178308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19431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8328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charts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30175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product (bar), profit by product (donut), quantity by product (column).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35040" y="155448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40880" y="1783080"/>
            <a:ext cx="640080" cy="64008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19431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172200" y="2606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table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30175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category, orders, sales, profit and quantity in one list.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Analytics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291840" cy="3474720"/>
          </a:xfrm>
          <a:prstGeom prst="roundRect">
            <a:avLst>
              <a:gd name="adj" fmla="val 3333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it answers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2834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the top customers?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type spends more?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spend differ by gender?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order value?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0" y="114300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2801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846320" y="1097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39903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customers, average order value, top customer sales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0" y="2029968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16712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846320" y="19842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ranking customers by sales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114800" y="2916936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305409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46320" y="28712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3172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customer type (donut) and by gender (column)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114800" y="3803904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3941064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846320" y="37581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4846320" y="405993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 by product category, showing sales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Region-wise Performance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 cards show the leading region with its sales and profit. South leads with 30.1% of total sales.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6596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Region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17320" y="22128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comparing South, East, West and North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96596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1031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State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623560" y="221284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of state-level sales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0632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47472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6118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City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417320" y="37216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of each city's share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663440" y="30632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347472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6118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2356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Region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623560" y="372160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of profit for each region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Region slicer to focus the whole page on one region.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Detail Explorer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from summary numbers to individual transactions.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965960" cy="2651760"/>
          </a:xfrm>
          <a:prstGeom prst="roundRect">
            <a:avLst>
              <a:gd name="adj" fmla="val 5581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187452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4300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8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page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971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Details in the left navigation.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42032" y="1645920"/>
            <a:ext cx="1965960" cy="2651760"/>
          </a:xfrm>
          <a:prstGeom prst="roundRect">
            <a:avLst>
              <a:gd name="adj" fmla="val 5581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27832" y="187452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2783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80" dirty="0"/>
          </a:p>
        </p:txBody>
      </p:sp>
      <p:sp>
        <p:nvSpPr>
          <p:cNvPr id="12" name="Text 10"/>
          <p:cNvSpPr txBox="1"/>
          <p:nvPr/>
        </p:nvSpPr>
        <p:spPr>
          <a:xfrm>
            <a:off x="2633472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the data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679192" y="2971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Product Name and Region slicers.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26864" y="1645920"/>
            <a:ext cx="1965960" cy="2651760"/>
          </a:xfrm>
          <a:prstGeom prst="roundRect">
            <a:avLst>
              <a:gd name="adj" fmla="val 5581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2664" y="187452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1266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80" dirty="0"/>
          </a:p>
        </p:txBody>
      </p:sp>
      <p:sp>
        <p:nvSpPr>
          <p:cNvPr id="17" name="Text 15"/>
          <p:cNvSpPr txBox="1"/>
          <p:nvPr/>
        </p:nvSpPr>
        <p:spPr>
          <a:xfrm>
            <a:off x="4718304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table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764024" y="2971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ID, customer, product, region, date, quantity, sales amount and profit.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11696" y="1645920"/>
            <a:ext cx="1965960" cy="2651760"/>
          </a:xfrm>
          <a:prstGeom prst="roundRect">
            <a:avLst>
              <a:gd name="adj" fmla="val 5581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97496" y="187452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9749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131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80" dirty="0"/>
          </a:p>
        </p:txBody>
      </p:sp>
      <p:sp>
        <p:nvSpPr>
          <p:cNvPr id="22" name="Text 20"/>
          <p:cNvSpPr txBox="1"/>
          <p:nvPr/>
        </p:nvSpPr>
        <p:spPr>
          <a:xfrm>
            <a:off x="6803136" y="25603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and drill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848856" y="297180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column header to sort. Expand the date from year to quarter, month and day.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at the top (sales, profit, orders, quantity) always match the rows shown below.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 and troubleshooting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39446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20240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on Home, then drill into a page.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regions by clicking one bar at a time.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which slicers are active before quoting a number.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Details to verify any total you are unsure about.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1280160"/>
            <a:ext cx="457200" cy="45720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620" y="139446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280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something looks off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892040" y="1920240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 look empty: a slicer is filtering everything out. Reset to All.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are out of order: the trend chart is sorted by value, not by calendar.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shows 0.20: this is 20% in decimal format.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region text does not change with slicers: it is typed text, not a calculation.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explore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210312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33172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688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left buttons to switch pages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46120" y="210312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233172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4688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052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Region, Category and Month slicers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35040" y="210312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232F3E"/>
          </a:solidFill>
          <a:ln w="12700">
            <a:solidFill>
              <a:srgbClr val="232F3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2331720"/>
            <a:ext cx="548640" cy="548640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4688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4944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30175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charts and open Details for the rows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Intelligence Dashboard  |  Prepared by Sinegavalli.S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Sales Intelligence Dashboard - User Guide</dc:title>
  <dc:subject>PptxGenJS Presentation</dc:subject>
  <dc:creator>Sinegavalli.S</dc:creator>
  <cp:lastModifiedBy>Sinegavalli.S</cp:lastModifiedBy>
  <cp:revision>1</cp:revision>
  <dcterms:created xsi:type="dcterms:W3CDTF">2026-09-28T13:45:17Z</dcterms:created>
  <dcterms:modified xsi:type="dcterms:W3CDTF">2026-09-28T13:45:17Z</dcterms:modified>
</cp:coreProperties>
</file>